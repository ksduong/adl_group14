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layfair Display Medium"/>
      <p:regular r:id="rId11"/>
      <p:bold r:id="rId12"/>
      <p:italic r:id="rId13"/>
      <p:boldItalic r:id="rId14"/>
    </p:embeddedFont>
    <p:embeddedFont>
      <p:font typeface="Playfair Displ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layfairDisplayMedium-regular.fntdata"/><Relationship Id="rId10" Type="http://schemas.openxmlformats.org/officeDocument/2006/relationships/slide" Target="slides/slide5.xml"/><Relationship Id="rId13" Type="http://schemas.openxmlformats.org/officeDocument/2006/relationships/font" Target="fonts/PlayfairDisplayMedium-italic.fntdata"/><Relationship Id="rId12" Type="http://schemas.openxmlformats.org/officeDocument/2006/relationships/font" Target="fonts/PlayfairDisplayMedium-bold.fntdata"/><Relationship Id="rId15" Type="http://schemas.openxmlformats.org/officeDocument/2006/relationships/font" Target="fonts/PlayfairDisplay-regular.fntdata"/><Relationship Id="rId14" Type="http://schemas.openxmlformats.org/officeDocument/2006/relationships/font" Target="fonts/PlayfairDisplayMedium-boldItalic.fntdata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19" Type="http://schemas.openxmlformats.org/officeDocument/2006/relationships/font" Target="fonts/Lato-regular.fntdata"/><Relationship Id="rId18" Type="http://schemas.openxmlformats.org/officeDocument/2006/relationships/font" Target="fonts/PlayfairDispl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948e22f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948e22f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95d6bad7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95d6bad7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95d6bad7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95d6bad7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95d6bad7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95d6bad7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95d6bad7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95d6bad7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" name="Google Shape;21;p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" name="Google Shape;23;p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4" name="Google Shape;34;p4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" name="Google Shape;35;p4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7" name="Google Shape;37;p4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49" name="Google Shape;49;p5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52;p6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4" name="Google Shape;54;p6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6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7" name="Google Shape;77;p7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8" name="Google Shape;78;p7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79" name="Google Shape;79;p7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0" name="Google Shape;80;p7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1" name="Google Shape;81;p7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8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8" name="Google Shape;98;p10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0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0" name="Google Shape;100;p10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0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8" name="Google Shape;108;p10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09" name="Google Shape;109;p10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0" name="Google Shape;110;p10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11" name="Google Shape;111;p10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1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41" name="Google Shape;141;p14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4" name="Google Shape;144;p14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14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46" name="Google Shape;146;p14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14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4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15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58" name="Google Shape;158;p15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60" name="Google Shape;160;p15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1" name="Google Shape;161;p15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5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1" name="Google Shape;1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3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20" name="Google Shape;220;p3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6" name="Google Shape;236;p3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9" name="Google Shape;239;p3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3" name="Google Shape;243;p3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3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0" name="Google Shape;250;p3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3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" name="Google Shape;254;p3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5" name="Google Shape;255;p3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6" name="Google Shape;266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AI.Data Lab - Group 14: Checkpoint Presentation #1</a:t>
            </a:r>
            <a:endParaRPr/>
          </a:p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8"/>
          <p:cNvSpPr txBox="1"/>
          <p:nvPr/>
        </p:nvSpPr>
        <p:spPr>
          <a:xfrm>
            <a:off x="1031500" y="1397625"/>
            <a:ext cx="39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766575" y="1302525"/>
            <a:ext cx="6997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Data Cleaning Steps - Rotation schedule dataset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Dropped empty rows (no rotation ID = no data), and uninformative columns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Fixed column formats: dates to datetime, numeric fields to int, IDs to string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Standardized </a:t>
            </a: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status</a:t>
            </a: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: collapsed Archived/non-Archived variants → Completed (1), Denied (2), Withdrawn (3)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Corrected spelling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Handled "No Students" entries and exploded student lists for student-level analysis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type="title"/>
          </p:nvPr>
        </p:nvSpPr>
        <p:spPr>
          <a:xfrm>
            <a:off x="298050" y="30095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Plots</a:t>
            </a:r>
            <a:endParaRPr/>
          </a:p>
        </p:txBody>
      </p:sp>
      <p:sp>
        <p:nvSpPr>
          <p:cNvPr id="282" name="Google Shape;282;p3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9" title="Screenshot 2026-02-19 at 2.0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50" y="918725"/>
            <a:ext cx="3538676" cy="40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9" title="Screenshot 2026-02-19 at 2.03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154" y="918725"/>
            <a:ext cx="4118139" cy="399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298050" y="30095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Plots</a:t>
            </a:r>
            <a:endParaRPr/>
          </a:p>
        </p:txBody>
      </p:sp>
      <p:pic>
        <p:nvPicPr>
          <p:cNvPr id="290" name="Google Shape;290;p40" title="Screenshot 2026-02-19 at 2.03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75" y="848050"/>
            <a:ext cx="3828106" cy="414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0" title="Screenshot 2026-02-19 at 2.03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444" y="1269250"/>
            <a:ext cx="4452720" cy="2896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1" title="Screenshot 2026-02-19 at 2.03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299" y="458488"/>
            <a:ext cx="6497327" cy="422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276075" y="45720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02" name="Google Shape;302;p42"/>
          <p:cNvSpPr txBox="1"/>
          <p:nvPr/>
        </p:nvSpPr>
        <p:spPr>
          <a:xfrm>
            <a:off x="698625" y="1357475"/>
            <a:ext cx="725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layfair Display"/>
              <a:buChar char="-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Integrate richer datasets — rotation hours are a poor proxy for nurse ROC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-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Verify acceptance rate patterns by school, controlling for rotation type and site</a:t>
            </a:r>
            <a:endParaRPr sz="1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ayfair Display"/>
              <a:buChar char="-"/>
            </a:pPr>
            <a:r>
              <a:rPr lang="en" sz="1200">
                <a:latin typeface="Playfair Display"/>
                <a:ea typeface="Playfair Display"/>
                <a:cs typeface="Playfair Display"/>
                <a:sym typeface="Playfair Display"/>
              </a:rPr>
              <a:t>Link rotation type to nurse performance to identify highest-value clinical placements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